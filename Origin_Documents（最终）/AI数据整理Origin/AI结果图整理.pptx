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66" r:id="rId3"/>
    <p:sldId id="259" r:id="rId5"/>
    <p:sldId id="267" r:id="rId6"/>
    <p:sldId id="268" r:id="rId7"/>
    <p:sldId id="269" r:id="rId8"/>
    <p:sldId id="270" r:id="rId9"/>
    <p:sldId id="280" r:id="rId10"/>
    <p:sldId id="272" r:id="rId11"/>
    <p:sldId id="281" r:id="rId12"/>
    <p:sldId id="282" r:id="rId13"/>
    <p:sldId id="271" r:id="rId14"/>
    <p:sldId id="283" r:id="rId15"/>
    <p:sldId id="256" r:id="rId16"/>
    <p:sldId id="257" r:id="rId17"/>
    <p:sldId id="258" r:id="rId18"/>
    <p:sldId id="264" r:id="rId19"/>
    <p:sldId id="260" r:id="rId20"/>
    <p:sldId id="273" r:id="rId21"/>
  </p:sldIdLst>
  <p:sldSz cx="12192000" cy="6858000"/>
  <p:notesSz cx="6858000" cy="9144000"/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59"/>
        <p:guide pos="381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gs" Target="tags/tag69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image" Target="../media/image5.e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image" Target="../media/image7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image" Target="../media/image11.e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image" Target="../media/image13.e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image" Target="../media/image15.e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image" Target="../media/image17.e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image" Target="../media/image19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image" Target="../media/image22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image" Target="../media/image2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.e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1.emf"/><Relationship Id="rId1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.v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63.xml"/><Relationship Id="rId2" Type="http://schemas.openxmlformats.org/officeDocument/2006/relationships/image" Target="../media/image3.emf"/><Relationship Id="rId1" Type="http://schemas.openxmlformats.org/officeDocument/2006/relationships/oleObject" Target="../embeddings/oleObject3.bin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emf"/><Relationship Id="rId1" Type="http://schemas.openxmlformats.org/officeDocument/2006/relationships/oleObject" Target="../embeddings/oleObject4.bin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vmlDrawing" Target="../drawings/vmlDrawing4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6.emf"/><Relationship Id="rId3" Type="http://schemas.openxmlformats.org/officeDocument/2006/relationships/oleObject" Target="../embeddings/oleObject6.bin"/><Relationship Id="rId2" Type="http://schemas.openxmlformats.org/officeDocument/2006/relationships/image" Target="../media/image5.emf"/><Relationship Id="rId1" Type="http://schemas.openxmlformats.org/officeDocument/2006/relationships/oleObject" Target="../embeddings/oleObject5.bin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vmlDrawing" Target="../drawings/vmlDrawing5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8.emf"/><Relationship Id="rId3" Type="http://schemas.openxmlformats.org/officeDocument/2006/relationships/oleObject" Target="../embeddings/oleObject8.bin"/><Relationship Id="rId2" Type="http://schemas.openxmlformats.org/officeDocument/2006/relationships/image" Target="../media/image7.emf"/><Relationship Id="rId1" Type="http://schemas.openxmlformats.org/officeDocument/2006/relationships/oleObject" Target="../embeddings/oleObject7.bin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vmlDrawing" Target="../drawings/vmlDrawing6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0.emf"/><Relationship Id="rId2" Type="http://schemas.openxmlformats.org/officeDocument/2006/relationships/oleObject" Target="../embeddings/oleObject9.bin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vmlDrawing" Target="../drawings/vmlDrawing7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2.emf"/><Relationship Id="rId3" Type="http://schemas.openxmlformats.org/officeDocument/2006/relationships/oleObject" Target="../embeddings/oleObject11.bin"/><Relationship Id="rId2" Type="http://schemas.openxmlformats.org/officeDocument/2006/relationships/image" Target="../media/image11.emf"/><Relationship Id="rId1" Type="http://schemas.openxmlformats.org/officeDocument/2006/relationships/oleObject" Target="../embeddings/oleObject10.bin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vmlDrawing" Target="../drawings/vmlDrawing8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4.emf"/><Relationship Id="rId3" Type="http://schemas.openxmlformats.org/officeDocument/2006/relationships/oleObject" Target="../embeddings/oleObject13.bin"/><Relationship Id="rId2" Type="http://schemas.openxmlformats.org/officeDocument/2006/relationships/image" Target="../media/image13.emf"/><Relationship Id="rId1" Type="http://schemas.openxmlformats.org/officeDocument/2006/relationships/oleObject" Target="../embeddings/oleObject12.bin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vmlDrawing" Target="../drawings/vmlDrawing9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6.emf"/><Relationship Id="rId3" Type="http://schemas.openxmlformats.org/officeDocument/2006/relationships/oleObject" Target="../embeddings/oleObject15.bin"/><Relationship Id="rId2" Type="http://schemas.openxmlformats.org/officeDocument/2006/relationships/image" Target="../media/image15.emf"/><Relationship Id="rId1" Type="http://schemas.openxmlformats.org/officeDocument/2006/relationships/oleObject" Target="../embeddings/oleObject14.bin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0.v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64.xml"/><Relationship Id="rId4" Type="http://schemas.openxmlformats.org/officeDocument/2006/relationships/image" Target="../media/image18.emf"/><Relationship Id="rId3" Type="http://schemas.openxmlformats.org/officeDocument/2006/relationships/oleObject" Target="../embeddings/oleObject17.bin"/><Relationship Id="rId2" Type="http://schemas.openxmlformats.org/officeDocument/2006/relationships/image" Target="../media/image17.emf"/><Relationship Id="rId1" Type="http://schemas.openxmlformats.org/officeDocument/2006/relationships/oleObject" Target="../embeddings/oleObject16.bin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vmlDrawing" Target="../drawings/vmlDrawing11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0.emf"/><Relationship Id="rId3" Type="http://schemas.openxmlformats.org/officeDocument/2006/relationships/oleObject" Target="../embeddings/oleObject19.bin"/><Relationship Id="rId2" Type="http://schemas.openxmlformats.org/officeDocument/2006/relationships/image" Target="../media/image19.emf"/><Relationship Id="rId1" Type="http://schemas.openxmlformats.org/officeDocument/2006/relationships/oleObject" Target="../embeddings/oleObject18.bin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2.v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image" Target="../media/image21.emf"/><Relationship Id="rId1" Type="http://schemas.openxmlformats.org/officeDocument/2006/relationships/oleObject" Target="../embeddings/oleObject20.bin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3.v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66.xml"/><Relationship Id="rId4" Type="http://schemas.openxmlformats.org/officeDocument/2006/relationships/image" Target="../media/image23.emf"/><Relationship Id="rId3" Type="http://schemas.openxmlformats.org/officeDocument/2006/relationships/oleObject" Target="../embeddings/oleObject22.bin"/><Relationship Id="rId2" Type="http://schemas.openxmlformats.org/officeDocument/2006/relationships/image" Target="../media/image22.emf"/><Relationship Id="rId1" Type="http://schemas.openxmlformats.org/officeDocument/2006/relationships/oleObject" Target="../embeddings/oleObject21.bin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4.v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67.xml"/><Relationship Id="rId2" Type="http://schemas.openxmlformats.org/officeDocument/2006/relationships/image" Target="../media/image24.emf"/><Relationship Id="rId1" Type="http://schemas.openxmlformats.org/officeDocument/2006/relationships/oleObject" Target="../embeddings/oleObject23.bin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5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5.emf"/><Relationship Id="rId1" Type="http://schemas.openxmlformats.org/officeDocument/2006/relationships/oleObject" Target="../embeddings/oleObject24.bin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6.v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68.xml"/><Relationship Id="rId4" Type="http://schemas.openxmlformats.org/officeDocument/2006/relationships/image" Target="../media/image27.emf"/><Relationship Id="rId3" Type="http://schemas.openxmlformats.org/officeDocument/2006/relationships/oleObject" Target="../embeddings/oleObject26.bin"/><Relationship Id="rId2" Type="http://schemas.openxmlformats.org/officeDocument/2006/relationships/image" Target="../media/image26.emf"/><Relationship Id="rId1" Type="http://schemas.openxmlformats.org/officeDocument/2006/relationships/oleObject" Target="../embeddings/oleObject25.bin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486410" y="1681480"/>
          <a:ext cx="5400000" cy="41335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1" imgW="7474585" imgH="5718810" progId="Origin95.Graph">
                  <p:embed/>
                </p:oleObj>
              </mc:Choice>
              <mc:Fallback>
                <p:oleObj name="" r:id="rId1" imgW="7474585" imgH="5718810" progId="Origin95.Graph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86410" y="1681480"/>
                        <a:ext cx="5400000" cy="41335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6096000" y="1681480"/>
          <a:ext cx="5400000" cy="41332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3" imgW="7474585" imgH="5718810" progId="Origin95.Graph">
                  <p:embed/>
                </p:oleObj>
              </mc:Choice>
              <mc:Fallback>
                <p:oleObj name="" r:id="rId3" imgW="7474585" imgH="5718810" progId="Origin95.Graph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96000" y="1681480"/>
                        <a:ext cx="5400000" cy="41332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4297680" y="957580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/>
              <a:t>不同模型性能比较</a:t>
            </a:r>
            <a:endParaRPr lang="zh-CN" altLang="en-US" sz="3200"/>
          </a:p>
        </p:txBody>
      </p:sp>
      <p:sp>
        <p:nvSpPr>
          <p:cNvPr id="7" name="文本框 6"/>
          <p:cNvSpPr txBox="1"/>
          <p:nvPr/>
        </p:nvSpPr>
        <p:spPr>
          <a:xfrm>
            <a:off x="604520" y="6205220"/>
            <a:ext cx="113506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Origin</a:t>
            </a:r>
            <a:r>
              <a:rPr lang="zh-CN" altLang="en-US" sz="2400"/>
              <a:t>文件见：</a:t>
            </a:r>
            <a:r>
              <a:rPr lang="en-US" altLang="zh-CN" sz="2400">
                <a:sym typeface="+mn-ea"/>
              </a:rPr>
              <a:t>r2_score_YS_and_UTS</a:t>
            </a:r>
            <a:r>
              <a:rPr lang="en-US" altLang="zh-CN" sz="2400"/>
              <a:t>.opju</a:t>
            </a:r>
            <a:r>
              <a:rPr lang="zh-CN" altLang="en-US" sz="2400"/>
              <a:t>中的</a:t>
            </a:r>
            <a:r>
              <a:rPr lang="en-US" altLang="zh-CN" sz="2400"/>
              <a:t>YS prediction</a:t>
            </a:r>
            <a:r>
              <a:rPr lang="zh-CN" altLang="en-US" sz="2400"/>
              <a:t>和</a:t>
            </a:r>
            <a:r>
              <a:rPr lang="en-US" altLang="zh-CN" sz="2400"/>
              <a:t> UTS prediction</a:t>
            </a:r>
            <a:endParaRPr lang="en-US" altLang="zh-CN"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对象 1"/>
          <p:cNvGraphicFramePr/>
          <p:nvPr/>
        </p:nvGraphicFramePr>
        <p:xfrm>
          <a:off x="709930" y="1194435"/>
          <a:ext cx="5935980" cy="51549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1" imgW="6589395" imgH="5718810" progId="Origin95.Graph">
                  <p:embed/>
                </p:oleObj>
              </mc:Choice>
              <mc:Fallback>
                <p:oleObj name="" r:id="rId1" imgW="6589395" imgH="5718810" progId="Origin95.Graph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09930" y="1194435"/>
                        <a:ext cx="5935980" cy="51549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6958330" y="823595"/>
            <a:ext cx="228409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D</a:t>
            </a:r>
            <a:r>
              <a:rPr lang="en-US" altLang="zh-CN" baseline="-25000"/>
              <a:t>1</a:t>
            </a:r>
            <a:r>
              <a:rPr lang="zh-CN" altLang="en-US"/>
              <a:t>：Elements only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958330" y="1484630"/>
            <a:ext cx="228409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D</a:t>
            </a:r>
            <a:r>
              <a:rPr lang="en-US" altLang="zh-CN" baseline="-25000"/>
              <a:t>2</a:t>
            </a:r>
            <a:r>
              <a:rPr lang="zh-CN" altLang="en-US"/>
              <a:t>：Merdig only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6958330" y="6278245"/>
            <a:ext cx="228409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D</a:t>
            </a:r>
            <a:r>
              <a:rPr lang="en-US" altLang="zh-CN" baseline="-25000"/>
              <a:t>9</a:t>
            </a:r>
            <a:r>
              <a:rPr lang="zh-CN" altLang="en-US"/>
              <a:t>：</a:t>
            </a:r>
            <a:r>
              <a:rPr lang="en-US" altLang="zh-CN">
                <a:sym typeface="+mn-ea"/>
              </a:rPr>
              <a:t>D</a:t>
            </a:r>
            <a:r>
              <a:rPr lang="en-US" baseline="-25000">
                <a:sym typeface="+mn-ea"/>
              </a:rPr>
              <a:t>8</a:t>
            </a:r>
            <a:r>
              <a:rPr lang="zh-CN" altLang="en-US">
                <a:sym typeface="+mn-ea"/>
              </a:rPr>
              <a:t>+ </a:t>
            </a:r>
            <a:r>
              <a:rPr lang="en-US" altLang="zh-CN">
                <a:sym typeface="+mn-ea"/>
              </a:rPr>
              <a:t>WenAlloys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6958330" y="5450840"/>
            <a:ext cx="4979670" cy="5791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D</a:t>
            </a:r>
            <a:r>
              <a:rPr lang="en-US" altLang="zh-CN" baseline="-25000"/>
              <a:t>8</a:t>
            </a:r>
            <a:r>
              <a:rPr lang="zh-CN" altLang="en-US"/>
              <a:t>：</a:t>
            </a:r>
            <a:r>
              <a:rPr lang="en-US" altLang="zh-CN">
                <a:sym typeface="+mn-ea"/>
              </a:rPr>
              <a:t>D</a:t>
            </a:r>
            <a:r>
              <a:rPr lang="en-US" baseline="-25000">
                <a:sym typeface="+mn-ea"/>
              </a:rPr>
              <a:t>2</a:t>
            </a:r>
            <a:r>
              <a:rPr lang="zh-CN" altLang="en-US">
                <a:sym typeface="+mn-ea"/>
              </a:rPr>
              <a:t>+ </a:t>
            </a:r>
            <a:r>
              <a:rPr lang="en-US" altLang="zh-CN">
                <a:sym typeface="+mn-ea"/>
              </a:rPr>
              <a:t>D</a:t>
            </a:r>
            <a:r>
              <a:rPr lang="en-US" altLang="zh-CN" baseline="-25000">
                <a:sym typeface="+mn-ea"/>
              </a:rPr>
              <a:t>3</a:t>
            </a:r>
            <a:r>
              <a:rPr lang="zh-CN" altLang="en-US"/>
              <a:t>+ Morphology + empirical formulas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6958330" y="2145665"/>
            <a:ext cx="228409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D</a:t>
            </a:r>
            <a:r>
              <a:rPr lang="en-US" altLang="zh-CN" baseline="-25000"/>
              <a:t>3</a:t>
            </a:r>
            <a:r>
              <a:rPr lang="zh-CN" altLang="en-US"/>
              <a:t>：Magpie only</a:t>
            </a:r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6958330" y="2806700"/>
            <a:ext cx="345757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D</a:t>
            </a:r>
            <a:r>
              <a:rPr lang="en-US" altLang="zh-CN" baseline="-25000"/>
              <a:t>4</a:t>
            </a:r>
            <a:r>
              <a:rPr lang="zh-CN" altLang="en-US"/>
              <a:t>：</a:t>
            </a:r>
            <a:r>
              <a:rPr lang="en-US" altLang="zh-CN">
                <a:sym typeface="+mn-ea"/>
              </a:rPr>
              <a:t>D</a:t>
            </a:r>
            <a:r>
              <a:rPr lang="en-US" altLang="zh-CN" baseline="-25000">
                <a:sym typeface="+mn-ea"/>
              </a:rPr>
              <a:t>2</a:t>
            </a:r>
            <a:r>
              <a:rPr lang="zh-CN" altLang="en-US"/>
              <a:t>+ Morphology</a:t>
            </a:r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6958330" y="3467735"/>
            <a:ext cx="331279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D</a:t>
            </a:r>
            <a:r>
              <a:rPr lang="en-US" altLang="zh-CN" baseline="-25000"/>
              <a:t>5</a:t>
            </a:r>
            <a:r>
              <a:rPr lang="zh-CN" altLang="en-US"/>
              <a:t>：</a:t>
            </a:r>
            <a:r>
              <a:rPr lang="en-US" altLang="zh-CN">
                <a:sym typeface="+mn-ea"/>
              </a:rPr>
              <a:t>D</a:t>
            </a:r>
            <a:r>
              <a:rPr lang="en-US" altLang="zh-CN" baseline="-25000">
                <a:sym typeface="+mn-ea"/>
              </a:rPr>
              <a:t>3</a:t>
            </a:r>
            <a:r>
              <a:rPr lang="zh-CN" altLang="en-US"/>
              <a:t>+ WenAlloys</a:t>
            </a:r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6958330" y="4789805"/>
            <a:ext cx="497903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D</a:t>
            </a:r>
            <a:r>
              <a:rPr lang="en-US" altLang="zh-CN" baseline="-25000"/>
              <a:t>7</a:t>
            </a:r>
            <a:r>
              <a:rPr lang="zh-CN" altLang="en-US"/>
              <a:t>：</a:t>
            </a:r>
            <a:r>
              <a:rPr lang="en-US" altLang="zh-CN">
                <a:sym typeface="+mn-ea"/>
              </a:rPr>
              <a:t>D</a:t>
            </a:r>
            <a:r>
              <a:rPr lang="en-US" altLang="zh-CN" baseline="-25000">
                <a:sym typeface="+mn-ea"/>
              </a:rPr>
              <a:t>6 </a:t>
            </a:r>
            <a:r>
              <a:rPr lang="en-US" altLang="zh-CN">
                <a:sym typeface="+mn-ea"/>
              </a:rPr>
              <a:t>+ </a:t>
            </a:r>
            <a:r>
              <a:rPr lang="zh-CN" altLang="en-US">
                <a:sym typeface="+mn-ea"/>
              </a:rPr>
              <a:t>WenAlloys</a:t>
            </a:r>
            <a:r>
              <a:rPr lang="en-US" altLang="zh-CN">
                <a:sym typeface="+mn-ea"/>
              </a:rPr>
              <a:t> +Morphology</a:t>
            </a:r>
            <a:endParaRPr lang="zh-CN" altLang="en-US"/>
          </a:p>
          <a:p>
            <a:endParaRPr lang="en-US" altLang="zh-CN"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958330" y="4128770"/>
            <a:ext cx="257365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D</a:t>
            </a:r>
            <a:r>
              <a:rPr lang="en-US" altLang="zh-CN" baseline="-25000"/>
              <a:t>6</a:t>
            </a:r>
            <a:r>
              <a:rPr lang="zh-CN" altLang="en-US"/>
              <a:t>：</a:t>
            </a:r>
            <a:r>
              <a:rPr lang="en-US" altLang="zh-CN">
                <a:sym typeface="+mn-ea"/>
              </a:rPr>
              <a:t>D</a:t>
            </a:r>
            <a:r>
              <a:rPr lang="en-US" baseline="-25000">
                <a:sym typeface="+mn-ea"/>
              </a:rPr>
              <a:t>2</a:t>
            </a:r>
            <a:r>
              <a:rPr lang="zh-CN" altLang="en-US"/>
              <a:t>+ </a:t>
            </a:r>
            <a:r>
              <a:rPr lang="en-US" altLang="zh-CN">
                <a:sym typeface="+mn-ea"/>
              </a:rPr>
              <a:t>D</a:t>
            </a:r>
            <a:r>
              <a:rPr lang="en-US" altLang="zh-CN" baseline="-25000">
                <a:sym typeface="+mn-ea"/>
              </a:rPr>
              <a:t>3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432175" y="234315"/>
            <a:ext cx="47625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/>
              <a:t>不同特征描述符性能比较</a:t>
            </a:r>
            <a:endParaRPr lang="zh-CN" altLang="en-US" sz="3200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2803525" y="726440"/>
            <a:ext cx="75272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/>
              <a:t>通用模型</a:t>
            </a:r>
            <a:r>
              <a:rPr lang="en-US" altLang="zh-CN" sz="3200"/>
              <a:t>——</a:t>
            </a:r>
            <a:r>
              <a:rPr lang="zh-CN" altLang="en-US" sz="3200"/>
              <a:t>实验数据验证（误差值）</a:t>
            </a:r>
            <a:endParaRPr lang="zh-CN" altLang="en-US" sz="3200"/>
          </a:p>
        </p:txBody>
      </p:sp>
      <p:sp>
        <p:nvSpPr>
          <p:cNvPr id="7" name="文本框 6"/>
          <p:cNvSpPr txBox="1"/>
          <p:nvPr/>
        </p:nvSpPr>
        <p:spPr>
          <a:xfrm>
            <a:off x="833755" y="5955030"/>
            <a:ext cx="11050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Origin</a:t>
            </a:r>
            <a:r>
              <a:rPr lang="zh-CN" altLang="en-US" sz="2400"/>
              <a:t>文件见：</a:t>
            </a:r>
            <a:r>
              <a:rPr lang="en-US" altLang="zh-CN" sz="2400"/>
              <a:t>r2_score_YS_and_UTS.opju</a:t>
            </a:r>
            <a:r>
              <a:rPr lang="zh-CN" altLang="en-US" sz="2400"/>
              <a:t>中的</a:t>
            </a:r>
            <a:r>
              <a:rPr lang="en-US" altLang="zh-CN" sz="2400"/>
              <a:t> MAE of validation data</a:t>
            </a:r>
            <a:endParaRPr lang="en-US" altLang="zh-CN" sz="2400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3136265" y="1605915"/>
          <a:ext cx="5400000" cy="39157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" r:id="rId1" imgW="7310120" imgH="5302250" progId="Origin95.Graph">
                  <p:embed/>
                </p:oleObj>
              </mc:Choice>
              <mc:Fallback>
                <p:oleObj name="" r:id="rId1" imgW="7310120" imgH="5302250" progId="Origin95.Graph">
                  <p:embed/>
                  <p:pic>
                    <p:nvPicPr>
                      <p:cNvPr id="0" name="图片 1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136265" y="1605915"/>
                        <a:ext cx="5400000" cy="39157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1924685" y="630555"/>
            <a:ext cx="84702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>
                <a:sym typeface="+mn-ea"/>
              </a:rPr>
              <a:t>通用模型</a:t>
            </a:r>
            <a:r>
              <a:rPr lang="en-US" altLang="zh-CN" sz="3200">
                <a:sym typeface="+mn-ea"/>
              </a:rPr>
              <a:t>——</a:t>
            </a:r>
            <a:r>
              <a:rPr lang="zh-CN" altLang="en-US" sz="3200">
                <a:sym typeface="+mn-ea"/>
              </a:rPr>
              <a:t>实验数据验证（预测</a:t>
            </a:r>
            <a:r>
              <a:rPr lang="en-US" altLang="zh-CN" sz="3200">
                <a:sym typeface="+mn-ea"/>
              </a:rPr>
              <a:t>VS</a:t>
            </a:r>
            <a:r>
              <a:rPr lang="zh-CN" altLang="en-US" sz="3200">
                <a:sym typeface="+mn-ea"/>
              </a:rPr>
              <a:t>真实值）</a:t>
            </a:r>
            <a:endParaRPr lang="zh-CN" altLang="en-US" sz="3200"/>
          </a:p>
        </p:txBody>
      </p:sp>
      <p:sp>
        <p:nvSpPr>
          <p:cNvPr id="7" name="文本框 6"/>
          <p:cNvSpPr txBox="1"/>
          <p:nvPr/>
        </p:nvSpPr>
        <p:spPr>
          <a:xfrm>
            <a:off x="1141730" y="5659120"/>
            <a:ext cx="938847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Origin</a:t>
            </a:r>
            <a:r>
              <a:rPr lang="zh-CN" altLang="en-US" sz="2400"/>
              <a:t>文件见：</a:t>
            </a:r>
            <a:r>
              <a:rPr lang="en-US" altLang="zh-CN" sz="2400"/>
              <a:t>original_model_validation_with_experimental_materials.opju</a:t>
            </a:r>
            <a:r>
              <a:rPr lang="zh-CN" altLang="en-US" sz="2400"/>
              <a:t>中的</a:t>
            </a:r>
            <a:r>
              <a:rPr lang="en-US" altLang="zh-CN" sz="2400"/>
              <a:t>  YS_prediciton  </a:t>
            </a:r>
            <a:r>
              <a:rPr lang="zh-CN" altLang="en-US" sz="2400"/>
              <a:t>和</a:t>
            </a:r>
            <a:r>
              <a:rPr lang="en-US" altLang="zh-CN" sz="2400"/>
              <a:t>UTS prediction</a:t>
            </a:r>
            <a:endParaRPr lang="en-US" altLang="zh-CN" sz="2400"/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6260465" y="1396365"/>
          <a:ext cx="5400000" cy="42629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1" imgW="7440930" imgH="5873750" progId="Origin95.Graph">
                  <p:embed/>
                </p:oleObj>
              </mc:Choice>
              <mc:Fallback>
                <p:oleObj name="" r:id="rId1" imgW="7440930" imgH="5873750" progId="Origin95.Graph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260465" y="1396365"/>
                        <a:ext cx="5400000" cy="42629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516255" y="1396365"/>
          <a:ext cx="5400000" cy="42629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3" imgW="7440930" imgH="5873750" progId="Origin95.Graph">
                  <p:embed/>
                </p:oleObj>
              </mc:Choice>
              <mc:Fallback>
                <p:oleObj name="" r:id="rId3" imgW="7440930" imgH="5873750" progId="Origin95.Graph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6255" y="1396365"/>
                        <a:ext cx="5400000" cy="42629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2697480" y="957580"/>
            <a:ext cx="74041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/>
              <a:t>通用模型</a:t>
            </a:r>
            <a:r>
              <a:rPr lang="en-US" altLang="zh-CN" sz="3200"/>
              <a:t>——</a:t>
            </a:r>
            <a:r>
              <a:rPr lang="zh-CN" altLang="en-US" sz="3200"/>
              <a:t>有无析出相数据性能比较</a:t>
            </a:r>
            <a:endParaRPr lang="zh-CN" altLang="en-US" sz="3200"/>
          </a:p>
        </p:txBody>
      </p:sp>
      <p:sp>
        <p:nvSpPr>
          <p:cNvPr id="7" name="文本框 6"/>
          <p:cNvSpPr txBox="1"/>
          <p:nvPr/>
        </p:nvSpPr>
        <p:spPr>
          <a:xfrm>
            <a:off x="1141730" y="5955030"/>
            <a:ext cx="1131824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Origin</a:t>
            </a:r>
            <a:r>
              <a:rPr lang="zh-CN" altLang="en-US" sz="2400"/>
              <a:t>文件见：</a:t>
            </a:r>
            <a:r>
              <a:rPr lang="en-US" altLang="zh-CN" sz="2400"/>
              <a:t>MAE_with_withou_percipitate.opju</a:t>
            </a:r>
            <a:r>
              <a:rPr lang="zh-CN" altLang="en-US" sz="2400"/>
              <a:t>中的YS_MAE_P_VS_NP</a:t>
            </a:r>
            <a:r>
              <a:rPr lang="en-US" altLang="zh-CN" sz="2400"/>
              <a:t> </a:t>
            </a:r>
            <a:r>
              <a:rPr lang="zh-CN" altLang="en-US" sz="2400"/>
              <a:t>和</a:t>
            </a:r>
            <a:r>
              <a:rPr lang="en-US" altLang="zh-CN" sz="2400"/>
              <a:t>UTS</a:t>
            </a:r>
            <a:r>
              <a:rPr lang="zh-CN" altLang="en-US" sz="2400"/>
              <a:t>_MAE_P_VS_NP</a:t>
            </a:r>
            <a:endParaRPr lang="zh-CN" altLang="en-US" sz="240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6096000" y="1398270"/>
          <a:ext cx="5400000" cy="44288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1" imgW="6947535" imgH="5699125" progId="Origin95.Graph">
                  <p:embed/>
                </p:oleObj>
              </mc:Choice>
              <mc:Fallback>
                <p:oleObj name="" r:id="rId1" imgW="6947535" imgH="5699125" progId="Origin95.Graph">
                  <p:embed/>
                  <p:pic>
                    <p:nvPicPr>
                      <p:cNvPr id="0" name="图片 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096000" y="1398270"/>
                        <a:ext cx="5400000" cy="44288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967740" y="1457325"/>
          <a:ext cx="5400000" cy="437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" r:id="rId3" imgW="7106920" imgH="5752465" progId="Origin95.Graph">
                  <p:embed/>
                </p:oleObj>
              </mc:Choice>
              <mc:Fallback>
                <p:oleObj name="" r:id="rId3" imgW="7106920" imgH="5752465" progId="Origin95.Graph">
                  <p:embed/>
                  <p:pic>
                    <p:nvPicPr>
                      <p:cNvPr id="0" name="图片 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67740" y="1457325"/>
                        <a:ext cx="5400000" cy="43702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3514090" y="957580"/>
            <a:ext cx="56991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/>
              <a:t>通用模型</a:t>
            </a:r>
            <a:r>
              <a:rPr lang="en-US" altLang="zh-CN" sz="3200"/>
              <a:t>SHAP</a:t>
            </a:r>
            <a:r>
              <a:rPr lang="zh-CN" altLang="en-US" sz="3200"/>
              <a:t>分析</a:t>
            </a:r>
            <a:r>
              <a:rPr lang="en-US" altLang="zh-CN" sz="3200"/>
              <a:t>——YS</a:t>
            </a:r>
            <a:endParaRPr lang="en-US" altLang="zh-CN" sz="3200"/>
          </a:p>
        </p:txBody>
      </p:sp>
      <p:sp>
        <p:nvSpPr>
          <p:cNvPr id="7" name="文本框 6"/>
          <p:cNvSpPr txBox="1"/>
          <p:nvPr/>
        </p:nvSpPr>
        <p:spPr>
          <a:xfrm>
            <a:off x="107950" y="5653405"/>
            <a:ext cx="1280731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Origin</a:t>
            </a:r>
            <a:r>
              <a:rPr lang="zh-CN" altLang="en-US" sz="2400"/>
              <a:t>文件：左图</a:t>
            </a:r>
            <a:r>
              <a:rPr lang="en-US" altLang="zh-CN" sz="2400"/>
              <a:t>top4SHAP</a:t>
            </a:r>
            <a:r>
              <a:rPr lang="zh-CN" altLang="en-US" sz="2400"/>
              <a:t>分析结果</a:t>
            </a:r>
            <a:r>
              <a:rPr lang="en-US" altLang="zh-CN" sz="2400"/>
              <a:t>   </a:t>
            </a:r>
            <a:r>
              <a:rPr lang="zh-CN" altLang="en-US" sz="2400"/>
              <a:t>见</a:t>
            </a:r>
            <a:r>
              <a:rPr lang="en-US" altLang="zh-CN" sz="2400"/>
              <a:t>SHAP_YS_top4features.opju</a:t>
            </a:r>
            <a:r>
              <a:rPr lang="zh-CN" altLang="en-US" sz="2400"/>
              <a:t>中的</a:t>
            </a:r>
            <a:r>
              <a:rPr lang="en-US" altLang="zh-CN" sz="2400"/>
              <a:t>combined</a:t>
            </a:r>
            <a:r>
              <a:rPr lang="zh-CN" altLang="en-US" sz="2400"/>
              <a:t>及</a:t>
            </a:r>
            <a:r>
              <a:rPr lang="en-US" altLang="zh-CN" sz="2400"/>
              <a:t>No1~No.4</a:t>
            </a:r>
            <a:r>
              <a:rPr lang="zh-CN" altLang="en-US" sz="2400"/>
              <a:t>。</a:t>
            </a:r>
            <a:endParaRPr lang="zh-CN" altLang="en-US" sz="2400"/>
          </a:p>
          <a:p>
            <a:r>
              <a:rPr lang="zh-CN" altLang="en-US" sz="2400"/>
              <a:t>右图关键元素</a:t>
            </a:r>
            <a:r>
              <a:rPr lang="en-US" altLang="zh-CN" sz="2400"/>
              <a:t>SHAP</a:t>
            </a:r>
            <a:r>
              <a:rPr lang="zh-CN" altLang="en-US" sz="2400"/>
              <a:t>结果见SHAP_key_elements_YS -normalized.opju中的</a:t>
            </a:r>
            <a:r>
              <a:rPr lang="en-US" altLang="zh-CN" sz="2400"/>
              <a:t>YS_combined</a:t>
            </a:r>
            <a:endParaRPr lang="en-US" altLang="zh-CN" sz="240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3980" y="2011680"/>
            <a:ext cx="4199255" cy="3493770"/>
          </a:xfrm>
          <a:prstGeom prst="rect">
            <a:avLst/>
          </a:prstGeom>
        </p:spPr>
      </p:pic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481330" y="1779270"/>
          <a:ext cx="5538470" cy="39585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2" imgW="15980410" imgH="11423015" progId="Origin95.Graph">
                  <p:embed/>
                </p:oleObj>
              </mc:Choice>
              <mc:Fallback>
                <p:oleObj name="" r:id="rId2" imgW="15980410" imgH="11423015" progId="Origin95.Graph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81330" y="1779270"/>
                        <a:ext cx="5538470" cy="39585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3514090" y="957580"/>
            <a:ext cx="56991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/>
              <a:t>通用模型</a:t>
            </a:r>
            <a:r>
              <a:rPr lang="en-US" altLang="zh-CN" sz="3200"/>
              <a:t>SHAP</a:t>
            </a:r>
            <a:r>
              <a:rPr lang="zh-CN" altLang="en-US" sz="3200"/>
              <a:t>分析</a:t>
            </a:r>
            <a:r>
              <a:rPr lang="en-US" altLang="zh-CN" sz="3200"/>
              <a:t>——UTS</a:t>
            </a:r>
            <a:endParaRPr lang="en-US" altLang="zh-CN" sz="3200"/>
          </a:p>
        </p:txBody>
      </p:sp>
      <p:sp>
        <p:nvSpPr>
          <p:cNvPr id="7" name="文本框 6"/>
          <p:cNvSpPr txBox="1"/>
          <p:nvPr/>
        </p:nvSpPr>
        <p:spPr>
          <a:xfrm>
            <a:off x="27940" y="5653405"/>
            <a:ext cx="1280731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Origin</a:t>
            </a:r>
            <a:r>
              <a:rPr lang="zh-CN" altLang="en-US" sz="2400"/>
              <a:t>文件：左图</a:t>
            </a:r>
            <a:r>
              <a:rPr lang="en-US" altLang="zh-CN" sz="2400"/>
              <a:t>top4SHAP</a:t>
            </a:r>
            <a:r>
              <a:rPr lang="zh-CN" altLang="en-US" sz="2400"/>
              <a:t>分析结果</a:t>
            </a:r>
            <a:r>
              <a:rPr lang="en-US" altLang="zh-CN" sz="2400"/>
              <a:t>   </a:t>
            </a:r>
            <a:r>
              <a:rPr lang="zh-CN" altLang="en-US" sz="2400"/>
              <a:t>见</a:t>
            </a:r>
            <a:r>
              <a:rPr lang="en-US" altLang="zh-CN" sz="2400"/>
              <a:t>SHAP_UTS_top4features.opju</a:t>
            </a:r>
            <a:r>
              <a:rPr lang="zh-CN" altLang="en-US" sz="2400"/>
              <a:t>中的</a:t>
            </a:r>
            <a:r>
              <a:rPr lang="en-US" altLang="zh-CN" sz="2400"/>
              <a:t>combined</a:t>
            </a:r>
            <a:r>
              <a:rPr lang="zh-CN" altLang="en-US" sz="2400"/>
              <a:t>及</a:t>
            </a:r>
            <a:r>
              <a:rPr lang="en-US" altLang="zh-CN" sz="2400"/>
              <a:t>No1~No.4</a:t>
            </a:r>
            <a:r>
              <a:rPr lang="zh-CN" altLang="en-US" sz="2400"/>
              <a:t>。</a:t>
            </a:r>
            <a:endParaRPr lang="zh-CN" altLang="en-US" sz="2400"/>
          </a:p>
          <a:p>
            <a:r>
              <a:rPr lang="zh-CN" altLang="en-US" sz="2400"/>
              <a:t>右图关键元素</a:t>
            </a:r>
            <a:r>
              <a:rPr lang="en-US" altLang="zh-CN" sz="2400"/>
              <a:t>SHAP</a:t>
            </a:r>
            <a:r>
              <a:rPr lang="zh-CN" altLang="en-US" sz="2400"/>
              <a:t>结果见SHAP_key_elements_</a:t>
            </a:r>
            <a:r>
              <a:rPr lang="en-US" altLang="zh-CN" sz="2400"/>
              <a:t>UTS</a:t>
            </a:r>
            <a:r>
              <a:rPr lang="zh-CN" altLang="en-US" sz="2400"/>
              <a:t> -normalized.opju中的</a:t>
            </a:r>
            <a:r>
              <a:rPr lang="en-US" altLang="zh-CN" sz="2400"/>
              <a:t>UTS</a:t>
            </a:r>
            <a:r>
              <a:rPr lang="en-US" altLang="zh-CN" sz="2400"/>
              <a:t>_combined</a:t>
            </a:r>
            <a:endParaRPr lang="en-US" altLang="zh-CN" sz="2400"/>
          </a:p>
        </p:txBody>
      </p:sp>
      <p:graphicFrame>
        <p:nvGraphicFramePr>
          <p:cNvPr id="5" name="对象 4"/>
          <p:cNvGraphicFramePr/>
          <p:nvPr/>
        </p:nvGraphicFramePr>
        <p:xfrm>
          <a:off x="503555" y="1659255"/>
          <a:ext cx="4939665" cy="35394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1" imgW="15927070" imgH="11412855" progId="Origin95.Graph">
                  <p:embed/>
                </p:oleObj>
              </mc:Choice>
              <mc:Fallback>
                <p:oleObj name="" r:id="rId1" imgW="15927070" imgH="11412855" progId="Origin95.Graph">
                  <p:embed/>
                  <p:pic>
                    <p:nvPicPr>
                      <p:cNvPr id="0" name="图片 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03555" y="1659255"/>
                        <a:ext cx="4939665" cy="35394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6620510" y="2007235"/>
          <a:ext cx="3923665" cy="32753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" r:id="rId3" imgW="6468745" imgH="5399405" progId="Origin95.Graph">
                  <p:embed/>
                </p:oleObj>
              </mc:Choice>
              <mc:Fallback>
                <p:oleObj name="" r:id="rId3" imgW="6468745" imgH="5399405" progId="Origin95.Graph">
                  <p:embed/>
                  <p:pic>
                    <p:nvPicPr>
                      <p:cNvPr id="0" name="图片 1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620510" y="2007235"/>
                        <a:ext cx="3923665" cy="32753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3006090" y="957580"/>
            <a:ext cx="61791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/>
              <a:t>小模型</a:t>
            </a:r>
            <a:r>
              <a:rPr lang="en-US" altLang="zh-CN" sz="3200"/>
              <a:t>——</a:t>
            </a:r>
            <a:r>
              <a:rPr lang="zh-CN" altLang="en-US" sz="3200"/>
              <a:t>关键特征重要性排序</a:t>
            </a:r>
            <a:endParaRPr lang="zh-CN" altLang="en-US" sz="3200"/>
          </a:p>
        </p:txBody>
      </p:sp>
      <p:sp>
        <p:nvSpPr>
          <p:cNvPr id="7" name="文本框 6"/>
          <p:cNvSpPr txBox="1"/>
          <p:nvPr/>
        </p:nvSpPr>
        <p:spPr>
          <a:xfrm>
            <a:off x="1141730" y="5955030"/>
            <a:ext cx="110509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Origin</a:t>
            </a:r>
            <a:r>
              <a:rPr lang="zh-CN" altLang="en-US" sz="2400"/>
              <a:t>文件见：</a:t>
            </a:r>
            <a:r>
              <a:rPr lang="en-US" altLang="zh-CN" sz="2400"/>
              <a:t>SHAP_ranking_of_small_model.opju</a:t>
            </a:r>
            <a:r>
              <a:rPr lang="zh-CN" altLang="en-US" sz="2400"/>
              <a:t>中的</a:t>
            </a:r>
            <a:r>
              <a:rPr lang="en-US" altLang="zh-CN" sz="2400"/>
              <a:t>YS</a:t>
            </a:r>
            <a:r>
              <a:rPr lang="zh-CN" altLang="en-US" sz="2400"/>
              <a:t>和</a:t>
            </a:r>
            <a:r>
              <a:rPr lang="en-US" altLang="zh-CN" sz="2400"/>
              <a:t>UTS</a:t>
            </a:r>
            <a:r>
              <a:rPr lang="zh-CN" altLang="en-US" sz="2400"/>
              <a:t>文件</a:t>
            </a:r>
            <a:endParaRPr lang="zh-CN" altLang="en-US" sz="2400"/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852805" y="1736725"/>
          <a:ext cx="4049395" cy="30994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1" imgW="7474585" imgH="5718810" progId="Origin95.Graph">
                  <p:embed/>
                </p:oleObj>
              </mc:Choice>
              <mc:Fallback>
                <p:oleObj name="" r:id="rId1" imgW="7474585" imgH="5718810" progId="Origin95.Graph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52805" y="1736725"/>
                        <a:ext cx="4049395" cy="30994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6329680" y="1906270"/>
          <a:ext cx="3605530" cy="2759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3" imgW="7474585" imgH="5718810" progId="Origin95.Graph">
                  <p:embed/>
                </p:oleObj>
              </mc:Choice>
              <mc:Fallback>
                <p:oleObj name="" r:id="rId3" imgW="7474585" imgH="5718810" progId="Origin95.Graph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329680" y="1906270"/>
                        <a:ext cx="3605530" cy="27597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2544445" y="592455"/>
            <a:ext cx="750633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3200"/>
              <a:t>小模型</a:t>
            </a:r>
            <a:r>
              <a:rPr lang="en-US" altLang="zh-CN" sz="3200"/>
              <a:t>——</a:t>
            </a:r>
            <a:r>
              <a:rPr lang="zh-CN" altLang="en-US" sz="3200"/>
              <a:t>关键析出相特征</a:t>
            </a:r>
            <a:r>
              <a:rPr lang="en-US" altLang="zh-CN" sz="3200"/>
              <a:t>SHAP</a:t>
            </a:r>
            <a:r>
              <a:rPr lang="zh-CN" altLang="en-US" sz="3200"/>
              <a:t>结果</a:t>
            </a:r>
            <a:endParaRPr lang="zh-CN" altLang="en-US" sz="3200"/>
          </a:p>
          <a:p>
            <a:pPr algn="ctr"/>
            <a:r>
              <a:rPr lang="zh-CN" altLang="en-US" sz="3200"/>
              <a:t>（去除了含零值）</a:t>
            </a:r>
            <a:endParaRPr lang="zh-CN" altLang="en-US" sz="3200"/>
          </a:p>
        </p:txBody>
      </p:sp>
      <p:sp>
        <p:nvSpPr>
          <p:cNvPr id="7" name="文本框 6"/>
          <p:cNvSpPr txBox="1"/>
          <p:nvPr/>
        </p:nvSpPr>
        <p:spPr>
          <a:xfrm>
            <a:off x="-635" y="5896610"/>
            <a:ext cx="135204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Origin</a:t>
            </a:r>
            <a:r>
              <a:rPr lang="zh-CN" altLang="en-US" sz="2400"/>
              <a:t>文件见：</a:t>
            </a:r>
            <a:r>
              <a:rPr lang="en-US" altLang="zh-CN" sz="2400"/>
              <a:t>SHAP_precipitate_phase_YS.opju</a:t>
            </a:r>
            <a:r>
              <a:rPr lang="zh-CN" altLang="en-US" sz="2400"/>
              <a:t>和</a:t>
            </a:r>
            <a:r>
              <a:rPr lang="en-US" altLang="zh-CN" sz="2400">
                <a:sym typeface="+mn-ea"/>
              </a:rPr>
              <a:t>SHAP_precipitate_phase_UTS.opju</a:t>
            </a:r>
            <a:r>
              <a:rPr lang="zh-CN" altLang="en-US" sz="2400"/>
              <a:t>中</a:t>
            </a:r>
            <a:r>
              <a:rPr lang="en-US" altLang="zh-CN" sz="2400"/>
              <a:t>Y</a:t>
            </a:r>
            <a:r>
              <a:rPr lang="en-US" altLang="zh-CN" sz="2400">
                <a:sym typeface="+mn-ea"/>
              </a:rPr>
              <a:t>S_combined</a:t>
            </a:r>
            <a:r>
              <a:rPr lang="zh-CN" altLang="en-US" sz="2400"/>
              <a:t>，</a:t>
            </a:r>
            <a:r>
              <a:rPr lang="en-US" altLang="zh-CN" sz="2400"/>
              <a:t>UTS_combined</a:t>
            </a:r>
            <a:r>
              <a:rPr lang="zh-CN" altLang="en-US" sz="2400"/>
              <a:t>文件</a:t>
            </a:r>
            <a:endParaRPr lang="zh-CN" altLang="en-US" sz="2400"/>
          </a:p>
        </p:txBody>
      </p:sp>
      <p:sp>
        <p:nvSpPr>
          <p:cNvPr id="10" name="文本框 9"/>
          <p:cNvSpPr txBox="1"/>
          <p:nvPr/>
        </p:nvSpPr>
        <p:spPr>
          <a:xfrm>
            <a:off x="2218690" y="1592580"/>
            <a:ext cx="1351280" cy="3492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YS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8336915" y="15976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UTS</a:t>
            </a:r>
            <a:endParaRPr lang="en-US" altLang="zh-CN"/>
          </a:p>
        </p:txBody>
      </p:sp>
      <p:graphicFrame>
        <p:nvGraphicFramePr>
          <p:cNvPr id="14" name="对象 13"/>
          <p:cNvGraphicFramePr/>
          <p:nvPr/>
        </p:nvGraphicFramePr>
        <p:xfrm>
          <a:off x="525780" y="1965960"/>
          <a:ext cx="4329430" cy="35185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" r:id="rId1" imgW="13957935" imgH="11345545" progId="Origin95.Graph">
                  <p:embed/>
                </p:oleObj>
              </mc:Choice>
              <mc:Fallback>
                <p:oleObj name="" r:id="rId1" imgW="13957935" imgH="11345545" progId="Origin95.Graph">
                  <p:embed/>
                  <p:pic>
                    <p:nvPicPr>
                      <p:cNvPr id="0" name="图片 1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25780" y="1965960"/>
                        <a:ext cx="4329430" cy="35185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/>
          <p:nvPr/>
        </p:nvGraphicFramePr>
        <p:xfrm>
          <a:off x="6058535" y="1965960"/>
          <a:ext cx="4300220" cy="35185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" name="" r:id="rId3" imgW="13861415" imgH="11345545" progId="Origin95.Graph">
                  <p:embed/>
                </p:oleObj>
              </mc:Choice>
              <mc:Fallback>
                <p:oleObj name="" r:id="rId3" imgW="13861415" imgH="11345545" progId="Origin95.Graph">
                  <p:embed/>
                  <p:pic>
                    <p:nvPicPr>
                      <p:cNvPr id="0" name="图片 1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58535" y="1965960"/>
                        <a:ext cx="4300220" cy="35185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36675" y="6794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qf</a:t>
            </a:r>
            <a:r>
              <a:rPr lang="zh-CN" altLang="en-US"/>
              <a:t>小模型精度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052435" y="679450"/>
            <a:ext cx="15836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kl</a:t>
            </a:r>
            <a:r>
              <a:rPr lang="zh-CN" altLang="en-US"/>
              <a:t>小模型精度</a:t>
            </a:r>
            <a:endParaRPr lang="zh-CN" altLang="en-US"/>
          </a:p>
        </p:txBody>
      </p:sp>
      <p:graphicFrame>
        <p:nvGraphicFramePr>
          <p:cNvPr id="8" name="对象 7"/>
          <p:cNvGraphicFramePr/>
          <p:nvPr/>
        </p:nvGraphicFramePr>
        <p:xfrm>
          <a:off x="283210" y="1422400"/>
          <a:ext cx="5730240" cy="45237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1" imgW="7440930" imgH="5873750" progId="Origin95.Graph">
                  <p:embed/>
                </p:oleObj>
              </mc:Choice>
              <mc:Fallback>
                <p:oleObj name="" r:id="rId1" imgW="7440930" imgH="5873750" progId="Origin95.Graph">
                  <p:embed/>
                  <p:pic>
                    <p:nvPicPr>
                      <p:cNvPr id="0" name="图片 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83210" y="1422400"/>
                        <a:ext cx="5730240" cy="45237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/>
          <p:nvPr/>
        </p:nvGraphicFramePr>
        <p:xfrm>
          <a:off x="5834380" y="1411605"/>
          <a:ext cx="5743575" cy="45345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" r:id="rId3" imgW="7440930" imgH="5873750" progId="Origin95.Graph">
                  <p:embed/>
                </p:oleObj>
              </mc:Choice>
              <mc:Fallback>
                <p:oleObj name="" r:id="rId3" imgW="7440930" imgH="5873750" progId="Origin95.Graph">
                  <p:embed/>
                  <p:pic>
                    <p:nvPicPr>
                      <p:cNvPr id="0" name="图片 1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834380" y="1411605"/>
                        <a:ext cx="5743575" cy="45345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4825365" y="157480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小模型验证结果</a:t>
            </a:r>
            <a:endParaRPr lang="zh-CN" altLang="en-US" sz="2800"/>
          </a:p>
        </p:txBody>
      </p:sp>
    </p:spTree>
    <p:custDataLst>
      <p:tags r:id="rId5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4297680" y="245745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/>
              <a:t>不同模型性能比较</a:t>
            </a:r>
            <a:endParaRPr lang="zh-CN" altLang="en-US" sz="3200"/>
          </a:p>
        </p:txBody>
      </p:sp>
      <p:sp>
        <p:nvSpPr>
          <p:cNvPr id="7" name="文本框 6"/>
          <p:cNvSpPr txBox="1"/>
          <p:nvPr/>
        </p:nvSpPr>
        <p:spPr>
          <a:xfrm>
            <a:off x="1141730" y="5955030"/>
            <a:ext cx="938847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Origin</a:t>
            </a:r>
            <a:r>
              <a:rPr lang="zh-CN" altLang="en-US" sz="2400"/>
              <a:t>文件见：</a:t>
            </a:r>
            <a:r>
              <a:rPr lang="en-US" altLang="zh-CN" sz="2400"/>
              <a:t>r2_scores_general_vs_micro_enhanced.opju</a:t>
            </a:r>
            <a:r>
              <a:rPr lang="zh-CN" altLang="en-US" sz="2400"/>
              <a:t>中的</a:t>
            </a:r>
            <a:r>
              <a:rPr lang="en-US" altLang="zh-CN" sz="2400"/>
              <a:t>model_compare_YS</a:t>
            </a:r>
            <a:r>
              <a:rPr lang="zh-CN" altLang="en-US" sz="2400"/>
              <a:t>和</a:t>
            </a:r>
            <a:r>
              <a:rPr lang="en-US" altLang="zh-CN" sz="2400"/>
              <a:t>model_comare_UTS</a:t>
            </a:r>
            <a:r>
              <a:rPr lang="zh-CN" altLang="en-US" sz="2400"/>
              <a:t>上</a:t>
            </a:r>
            <a:endParaRPr lang="zh-CN" altLang="en-US" sz="2400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969010" y="1849755"/>
          <a:ext cx="4334510" cy="410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" r:id="rId1" imgW="6038215" imgH="5718810" progId="Origin95.Graph">
                  <p:embed/>
                </p:oleObj>
              </mc:Choice>
              <mc:Fallback>
                <p:oleObj name="" r:id="rId1" imgW="6038215" imgH="5718810" progId="Origin95.Graph">
                  <p:embed/>
                  <p:pic>
                    <p:nvPicPr>
                      <p:cNvPr id="0" name="图片 1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69010" y="1849755"/>
                        <a:ext cx="4334510" cy="4105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2621915" y="1561465"/>
            <a:ext cx="1062355" cy="3492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YS</a:t>
            </a:r>
            <a:endParaRPr lang="en-US" altLang="zh-CN"/>
          </a:p>
        </p:txBody>
      </p:sp>
      <p:sp>
        <p:nvSpPr>
          <p:cNvPr id="15" name="文本框 14"/>
          <p:cNvSpPr txBox="1"/>
          <p:nvPr/>
        </p:nvSpPr>
        <p:spPr>
          <a:xfrm>
            <a:off x="7987665" y="1500505"/>
            <a:ext cx="1062355" cy="3492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UTS</a:t>
            </a:r>
            <a:endParaRPr lang="en-US" altLang="zh-CN"/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5788025" y="1727835"/>
          <a:ext cx="4320000" cy="4084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" name="" r:id="rId3" imgW="6038215" imgH="5708650" progId="Origin95.Graph">
                  <p:embed/>
                </p:oleObj>
              </mc:Choice>
              <mc:Fallback>
                <p:oleObj name="" r:id="rId3" imgW="6038215" imgH="5708650" progId="Origin95.Graph">
                  <p:embed/>
                  <p:pic>
                    <p:nvPicPr>
                      <p:cNvPr id="0" name="图片 1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788025" y="1727835"/>
                        <a:ext cx="4320000" cy="4084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4064000" y="2954655"/>
            <a:ext cx="406400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6000"/>
              <a:t>END</a:t>
            </a:r>
            <a:endParaRPr lang="en-US" altLang="zh-CN" sz="6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/>
          <p:nvPr/>
        </p:nvGraphicFramePr>
        <p:xfrm>
          <a:off x="409575" y="230505"/>
          <a:ext cx="7966710" cy="66274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1" imgW="7500620" imgH="6238240" progId="Origin95.Graph">
                  <p:embed/>
                </p:oleObj>
              </mc:Choice>
              <mc:Fallback>
                <p:oleObj name="" r:id="rId1" imgW="7500620" imgH="6238240" progId="Origin95.Graph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09575" y="230505"/>
                        <a:ext cx="7966710" cy="66274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8268335" y="8686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由于放在了同一个</a:t>
            </a:r>
            <a:r>
              <a:rPr lang="en-US" altLang="zh-CN"/>
              <a:t>shap</a:t>
            </a:r>
            <a:r>
              <a:rPr lang="zh-CN" altLang="en-US"/>
              <a:t>下进行分析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128000" y="2270125"/>
            <a:ext cx="40640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Gd</a:t>
            </a:r>
            <a:r>
              <a:rPr lang="zh-CN" altLang="en-US"/>
              <a:t>和</a:t>
            </a:r>
            <a:r>
              <a:rPr lang="en-US" altLang="zh-CN"/>
              <a:t>Y</a:t>
            </a:r>
            <a:r>
              <a:rPr lang="zh-CN" altLang="en-US"/>
              <a:t>的影响最为显著：</a:t>
            </a:r>
            <a:r>
              <a:rPr lang="en-US" altLang="zh-CN"/>
              <a:t>shap&gt;0-</a:t>
            </a:r>
            <a:r>
              <a:rPr lang="zh-CN" altLang="en-US"/>
              <a:t>范围有大量</a:t>
            </a:r>
            <a:r>
              <a:rPr lang="en-US" altLang="zh-CN"/>
              <a:t>Gd</a:t>
            </a:r>
            <a:r>
              <a:rPr lang="zh-CN" altLang="en-US"/>
              <a:t>、</a:t>
            </a:r>
            <a:r>
              <a:rPr lang="en-US" altLang="zh-CN"/>
              <a:t>Y</a:t>
            </a:r>
            <a:r>
              <a:rPr lang="zh-CN" altLang="en-US"/>
              <a:t>的分布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模型中</a:t>
            </a:r>
            <a:r>
              <a:rPr lang="en-US" altLang="zh-CN"/>
              <a:t>Zn</a:t>
            </a:r>
            <a:r>
              <a:rPr lang="zh-CN" altLang="en-US"/>
              <a:t>、</a:t>
            </a:r>
            <a:r>
              <a:rPr lang="en-US" altLang="zh-CN"/>
              <a:t>Al</a:t>
            </a:r>
            <a:r>
              <a:rPr lang="zh-CN" altLang="en-US"/>
              <a:t>的影响相对较低，可以认为依赖性不大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2186305" y="13601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屈服强度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8565515" y="13442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抗拉强度</a:t>
            </a:r>
            <a:endParaRPr lang="zh-CN" altLang="en-US"/>
          </a:p>
        </p:txBody>
      </p:sp>
      <p:graphicFrame>
        <p:nvGraphicFramePr>
          <p:cNvPr id="9" name="对象 8"/>
          <p:cNvGraphicFramePr/>
          <p:nvPr/>
        </p:nvGraphicFramePr>
        <p:xfrm>
          <a:off x="6361430" y="1666875"/>
          <a:ext cx="5492115" cy="420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" r:id="rId1" imgW="8667115" imgH="6636385" progId="Origin95.Graph">
                  <p:embed/>
                </p:oleObj>
              </mc:Choice>
              <mc:Fallback>
                <p:oleObj name="" r:id="rId1" imgW="8667115" imgH="6636385" progId="Origin95.Graph">
                  <p:embed/>
                  <p:pic>
                    <p:nvPicPr>
                      <p:cNvPr id="0" name="图片 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361430" y="1666875"/>
                        <a:ext cx="5492115" cy="420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5065395" y="175260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晶粒尺寸修改</a:t>
            </a:r>
            <a:endParaRPr lang="zh-CN" altLang="en-US" sz="2800"/>
          </a:p>
        </p:txBody>
      </p:sp>
      <p:graphicFrame>
        <p:nvGraphicFramePr>
          <p:cNvPr id="12" name="对象 11"/>
          <p:cNvGraphicFramePr/>
          <p:nvPr/>
        </p:nvGraphicFramePr>
        <p:xfrm>
          <a:off x="455930" y="2065655"/>
          <a:ext cx="4636135" cy="3548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" r:id="rId3" imgW="8667115" imgH="6636385" progId="Origin95.Graph">
                  <p:embed/>
                </p:oleObj>
              </mc:Choice>
              <mc:Fallback>
                <p:oleObj name="" r:id="rId3" imgW="8667115" imgH="6636385" progId="Origin95.Graph">
                  <p:embed/>
                  <p:pic>
                    <p:nvPicPr>
                      <p:cNvPr id="0" name="图片 1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5930" y="2065655"/>
                        <a:ext cx="4636135" cy="35483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5"/>
    </p:custData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graphicFrame>
        <p:nvGraphicFramePr>
          <p:cNvPr id="2" name="对象 1"/>
          <p:cNvGraphicFramePr/>
          <p:nvPr/>
        </p:nvGraphicFramePr>
        <p:xfrm>
          <a:off x="777240" y="436245"/>
          <a:ext cx="6852285" cy="57194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1" imgW="6468745" imgH="5399405" progId="Origin95.Graph">
                  <p:embed/>
                </p:oleObj>
              </mc:Choice>
              <mc:Fallback>
                <p:oleObj name="" r:id="rId1" imgW="6468745" imgH="5399405" progId="Origin95.Graph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77240" y="436245"/>
                        <a:ext cx="6852285" cy="57194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"/>
    </p:custData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041650" y="613410"/>
            <a:ext cx="406400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zh-CN" altLang="en-US" sz="2800"/>
              <a:t>通用模型和析出相小模型性能对比</a:t>
            </a:r>
            <a:endParaRPr lang="zh-CN" altLang="en-US" sz="2800"/>
          </a:p>
        </p:txBody>
      </p:sp>
      <p:graphicFrame>
        <p:nvGraphicFramePr>
          <p:cNvPr id="7" name="对象 6"/>
          <p:cNvGraphicFramePr/>
          <p:nvPr/>
        </p:nvGraphicFramePr>
        <p:xfrm>
          <a:off x="1643380" y="978535"/>
          <a:ext cx="5978525" cy="56622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1" imgW="6038215" imgH="5718810" progId="Origin95.Graph">
                  <p:embed/>
                </p:oleObj>
              </mc:Choice>
              <mc:Fallback>
                <p:oleObj name="" r:id="rId1" imgW="6038215" imgH="5718810" progId="Origin95.Graph">
                  <p:embed/>
                  <p:pic>
                    <p:nvPicPr>
                      <p:cNvPr id="0" name="图片 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643380" y="978535"/>
                        <a:ext cx="5978525" cy="56622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graphicFrame>
        <p:nvGraphicFramePr>
          <p:cNvPr id="2" name="对象 1"/>
          <p:cNvGraphicFramePr/>
          <p:nvPr/>
        </p:nvGraphicFramePr>
        <p:xfrm>
          <a:off x="6404610" y="1619250"/>
          <a:ext cx="5380355" cy="44126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1" imgW="8055610" imgH="6608445" progId="Origin95.Graph">
                  <p:embed/>
                </p:oleObj>
              </mc:Choice>
              <mc:Fallback>
                <p:oleObj name="" r:id="rId1" imgW="8055610" imgH="6608445" progId="Origin95.Graph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404610" y="1619250"/>
                        <a:ext cx="5380355" cy="44126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/>
          <p:nvPr/>
        </p:nvGraphicFramePr>
        <p:xfrm>
          <a:off x="233045" y="1672590"/>
          <a:ext cx="5232400" cy="42348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3" imgW="8241030" imgH="6670040" progId="Origin95.Graph">
                  <p:embed/>
                </p:oleObj>
              </mc:Choice>
              <mc:Fallback>
                <p:oleObj name="" r:id="rId3" imgW="8241030" imgH="6670040" progId="Origin95.Graph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3045" y="1672590"/>
                        <a:ext cx="5232400" cy="42348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1941195" y="744855"/>
            <a:ext cx="97256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有无析出相模型预测误差：有析出相数据误差更小</a:t>
            </a:r>
            <a:endParaRPr lang="zh-CN" altLang="en-US" sz="2800"/>
          </a:p>
        </p:txBody>
      </p:sp>
    </p:spTree>
    <p:custDataLst>
      <p:tags r:id="rId5"/>
    </p:custData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4297680" y="957580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/>
              <a:t>不同模型性能比较</a:t>
            </a:r>
            <a:endParaRPr lang="zh-CN" altLang="en-US" sz="3200"/>
          </a:p>
        </p:txBody>
      </p:sp>
      <p:sp>
        <p:nvSpPr>
          <p:cNvPr id="7" name="文本框 6"/>
          <p:cNvSpPr txBox="1"/>
          <p:nvPr/>
        </p:nvSpPr>
        <p:spPr>
          <a:xfrm>
            <a:off x="1141730" y="5955030"/>
            <a:ext cx="93884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Origin</a:t>
            </a:r>
            <a:r>
              <a:rPr lang="zh-CN" altLang="en-US" sz="2400"/>
              <a:t>文件见：</a:t>
            </a:r>
            <a:r>
              <a:rPr lang="en-US" altLang="zh-CN" sz="2400"/>
              <a:t>r2_score.opju</a:t>
            </a:r>
            <a:r>
              <a:rPr lang="zh-CN" altLang="en-US" sz="2400"/>
              <a:t>中的</a:t>
            </a:r>
            <a:endParaRPr lang="en-US" altLang="zh-CN" sz="2400"/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commondata" val="eyJoZGlkIjoiNjcxYjNlMDdmMGZhODA1YjM0OTYyNzY3ZmJmMzFjNmQ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1326</Words>
  <Application>WPS 演示</Application>
  <PresentationFormat>宽屏</PresentationFormat>
  <Paragraphs>96</Paragraphs>
  <Slides>18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26</vt:i4>
      </vt:variant>
      <vt:variant>
        <vt:lpstr>幻灯片标题</vt:lpstr>
      </vt:variant>
      <vt:variant>
        <vt:i4>18</vt:i4>
      </vt:variant>
    </vt:vector>
  </HeadingPairs>
  <TitlesOfParts>
    <vt:vector size="52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Origin95.Graph</vt:lpstr>
      <vt:lpstr>Origin95.Graph</vt:lpstr>
      <vt:lpstr>Origin95.Graph</vt:lpstr>
      <vt:lpstr>Origin95.Graph</vt:lpstr>
      <vt:lpstr>Origin95.Graph</vt:lpstr>
      <vt:lpstr>Origin95.Graph</vt:lpstr>
      <vt:lpstr>Origin95.Graph</vt:lpstr>
      <vt:lpstr>Origin95.Graph</vt:lpstr>
      <vt:lpstr>Origin95.Graph</vt:lpstr>
      <vt:lpstr>Origin95.Graph</vt:lpstr>
      <vt:lpstr>Origin95.Graph</vt:lpstr>
      <vt:lpstr>Origin95.Graph</vt:lpstr>
      <vt:lpstr>Origin95.Graph</vt:lpstr>
      <vt:lpstr>Origin95.Graph</vt:lpstr>
      <vt:lpstr>Origin95.Graph</vt:lpstr>
      <vt:lpstr>Origin95.Graph</vt:lpstr>
      <vt:lpstr>Origin95.Graph</vt:lpstr>
      <vt:lpstr>Origin95.Graph</vt:lpstr>
      <vt:lpstr>Origin95.Graph</vt:lpstr>
      <vt:lpstr>Origin95.Graph</vt:lpstr>
      <vt:lpstr>Origin95.Graph</vt:lpstr>
      <vt:lpstr>Origin95.Graph</vt:lpstr>
      <vt:lpstr>Origin95.Graph</vt:lpstr>
      <vt:lpstr>Origin95.Graph</vt:lpstr>
      <vt:lpstr>Origin95.Graph</vt:lpstr>
      <vt:lpstr>Origin95.Graph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史磊</cp:lastModifiedBy>
  <cp:revision>176</cp:revision>
  <dcterms:created xsi:type="dcterms:W3CDTF">2019-06-19T02:08:00Z</dcterms:created>
  <dcterms:modified xsi:type="dcterms:W3CDTF">2024-06-21T01:54:39Z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2052-12.1.0.16929</vt:lpwstr>
  </property>
  <property fmtid="{D5CDD505-2E9C-101B-9397-08002B2CF9AE}" pid="3" name="ICV">
    <vt:lpwstr>B8A688D99C3E43BB96C8DF5073557671_11</vt:lpwstr>
  </property>
</Properties>
</file>